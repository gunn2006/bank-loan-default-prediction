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9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Weight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B3-4F41-83CC-1CE55AAE70D6}"/>
              </c:ext>
            </c:extLst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B3-4F41-83CC-1CE55AAE70D6}"/>
              </c:ext>
            </c:extLst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B3-4F41-83CC-1CE55AAE70D6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B3-4F41-83CC-1CE55AAE70D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AB3-4F41-83CC-1CE55AAE70D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AB3-4F41-83CC-1CE55AAE70D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AB3-4F41-83CC-1CE55AAE70D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Home purpose</c:v>
                </c:pt>
                <c:pt idx="1">
                  <c:v>Credit score</c:v>
                </c:pt>
                <c:pt idx="2">
                  <c:v>Employment yrs</c:v>
                </c:pt>
                <c:pt idx="3">
                  <c:v>Annual income</c:v>
                </c:pt>
                <c:pt idx="4">
                  <c:v>Loan amount</c:v>
                </c:pt>
                <c:pt idx="5">
                  <c:v>Late payments</c:v>
                </c:pt>
                <c:pt idx="6">
                  <c:v>Debt-to-income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-0.19</c:v>
                </c:pt>
                <c:pt idx="1">
                  <c:v>-0.59</c:v>
                </c:pt>
                <c:pt idx="2">
                  <c:v>-0.82</c:v>
                </c:pt>
                <c:pt idx="3">
                  <c:v>-0.96</c:v>
                </c:pt>
                <c:pt idx="4">
                  <c:v>1.3</c:v>
                </c:pt>
                <c:pt idx="5">
                  <c:v>1.35</c:v>
                </c:pt>
                <c:pt idx="6">
                  <c:v>1.47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AB3-4F41-83CC-1CE55AAE7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87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4324-10F9-3CE9-8103-3C1BFF5D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701B4-69E4-2DFF-5773-365D0C6AE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6BE59-7EAD-EBDF-BBB3-44F085725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E108F-48CE-45EC-F849-C79D058A4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52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shneet2629bbafai25-arch" TargetMode="External"/><Relationship Id="rId13" Type="http://schemas.openxmlformats.org/officeDocument/2006/relationships/hyperlink" Target="https://github.com/ashmeet2553bbafai25-ai" TargetMode="External"/><Relationship Id="rId3" Type="http://schemas.openxmlformats.org/officeDocument/2006/relationships/hyperlink" Target="https://github.com/ansh2534bbafai25-collab" TargetMode="External"/><Relationship Id="rId7" Type="http://schemas.openxmlformats.org/officeDocument/2006/relationships/hyperlink" Target="https://github.com/ranalakshay1979-sys" TargetMode="External"/><Relationship Id="rId12" Type="http://schemas.openxmlformats.org/officeDocument/2006/relationships/hyperlink" Target="https://github.com/dashboar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rchit2540bbafai25-byte" TargetMode="External"/><Relationship Id="rId11" Type="http://schemas.openxmlformats.org/officeDocument/2006/relationships/hyperlink" Target="https://github.com/Darpan099" TargetMode="External"/><Relationship Id="rId5" Type="http://schemas.openxmlformats.org/officeDocument/2006/relationships/hyperlink" Target="https://github.com/CHEHAK29" TargetMode="External"/><Relationship Id="rId10" Type="http://schemas.openxmlformats.org/officeDocument/2006/relationships/hyperlink" Target="https://github.com/gunn2006" TargetMode="External"/><Relationship Id="rId4" Type="http://schemas.openxmlformats.org/officeDocument/2006/relationships/hyperlink" Target="https://github.com/bhavika2561bbafai25-oss" TargetMode="External"/><Relationship Id="rId9" Type="http://schemas.openxmlformats.org/officeDocument/2006/relationships/hyperlink" Target="https://github.com/akarshan0004-spe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188720"/>
            <a:ext cx="3657600" cy="3657600"/>
          </a:xfrm>
          <a:prstGeom prst="ellipse">
            <a:avLst/>
          </a:prstGeom>
          <a:solidFill>
            <a:srgbClr val="12325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12325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BUSINESS CASE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Loan Default Risk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Retail Bank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for transparent, explainable credit-risk scoring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892040"/>
            <a:ext cx="2743200" cy="0"/>
          </a:xfrm>
          <a:prstGeom prst="line">
            <a:avLst/>
          </a:prstGeom>
          <a:noFill/>
          <a:ln w="25400">
            <a:solidFill>
              <a:srgbClr val="C9A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Business Problem, Data, Solution, Impact &amp; Recommendations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AI/ML Coursework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Institution 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institution does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bank accepts customer deposits and extends credit — home loans, auto loans, and personal loans — earning interest income while managing the risk that borrowers may not repay.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its customers are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retail applicants across income levels applying for home, auto, or personal loans, as well as existing account holders seeking additional credit.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and unsecured lending products, savings and current accounts, credit cards, and — central to this case study — the underwriting process that decides whether, and on what terms, a loan is approved.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9019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464040" y="19019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driver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banks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329184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41071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64040" y="34107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uncertainty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loan decision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80060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464040" y="491947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decisions must be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to regulators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Problem: Loan Default Risk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a borrower fails to repay their loan as agreed. Every default is a direct financial loss and a signal that underwriting missed a risk factor.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principal and lost interest income hit the bank's balance sheet directly.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9856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48456" y="2788920"/>
            <a:ext cx="502920" cy="50292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3" name="Text 11"/>
          <p:cNvSpPr/>
          <p:nvPr/>
        </p:nvSpPr>
        <p:spPr>
          <a:xfrm>
            <a:off x="364845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provisioning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8456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must hold capital reserves against expected losses — better risk scoring reduces over-provisioning.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2788920"/>
            <a:ext cx="502920" cy="50292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9672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scrutiny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require lenders to demonstrate sound, explainable, and fair credit decisions.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62288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90888" y="2788920"/>
            <a:ext cx="502920" cy="50292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23" name="Text 21"/>
          <p:cNvSpPr/>
          <p:nvPr/>
        </p:nvSpPr>
        <p:spPr>
          <a:xfrm>
            <a:off x="939088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90888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fairness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90888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risk assessment lets good borrowers get approved fairly and priced correctly, not over-penalized.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Required to Predict Default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credit-risk model learns from applicant and repayment history. This case study uses the following feature set: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82296" cy="749808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865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79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Applicant's yearly earnings — a core measure of repayment capacity.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331720"/>
            <a:ext cx="82296" cy="749808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3865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679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 (300–850) summarizing the applicant's credit history.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46120"/>
            <a:ext cx="82296" cy="749808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00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requested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loans carry proportionally larger repayment risk.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246120"/>
            <a:ext cx="82296" cy="749808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300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monthly debt as a % of income — high ratios strain repayment.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60520"/>
            <a:ext cx="82296" cy="749808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years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current job — a proxy for income stability.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4160520"/>
            <a:ext cx="82296" cy="749808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 (2 yrs)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late-payment history — a direct behavioral risk signal.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considered: loan purpose (Home / Auto / Personal). Real-world sources: loan application forms, credit bureau reports, bank statements, and internal repayment records.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Solution: Classification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232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classification algorithm that predicts the probability a loan applicant will default (Yes/No), based on labeled historical repayment outcomes.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456432"/>
            <a:ext cx="146304" cy="146304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192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outcome: applicant defaults or repays — a natural fit for classification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050792"/>
            <a:ext cx="146304" cy="146304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136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gets one clear weight — regulators require explainable lending decisions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645152"/>
            <a:ext cx="146304" cy="146304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079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score, so underwriters can rank and price risk consistently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5239512"/>
            <a:ext cx="146304" cy="146304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1023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and accepted in real credit-scoring systems today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in ML technique choice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46888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C9A05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468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 →  Logistic Regression  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12724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127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supervised options: Random Forest, XGBoost, SVM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74904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alt. use: clustering applicants into risk segments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jump straight to a more complex model?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the industry-standard starting point for credit scoring because it can show the exact formula behind every decision — a regulatory requirement — before scaling to more complex models.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Solution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542032" y="2089404"/>
            <a:ext cx="182880" cy="164592"/>
          </a:xfrm>
          <a:prstGeom prst="triangle">
            <a:avLst/>
          </a:prstGeom>
          <a:solidFill>
            <a:srgbClr val="8C9BB5"/>
          </a:solidFill>
          <a:ln/>
        </p:spPr>
      </p:sp>
      <p:sp>
        <p:nvSpPr>
          <p:cNvPr id="8" name="Shape 6"/>
          <p:cNvSpPr/>
          <p:nvPr/>
        </p:nvSpPr>
        <p:spPr>
          <a:xfrm>
            <a:off x="2770632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C9A050"/>
          </a:solidFill>
          <a:ln/>
        </p:spPr>
      </p:sp>
      <p:sp>
        <p:nvSpPr>
          <p:cNvPr id="9" name="Text 7"/>
          <p:cNvSpPr/>
          <p:nvPr/>
        </p:nvSpPr>
        <p:spPr>
          <a:xfrm>
            <a:off x="2770632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System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4764024" y="2089404"/>
            <a:ext cx="182880" cy="164592"/>
          </a:xfrm>
          <a:prstGeom prst="triangle">
            <a:avLst/>
          </a:prstGeom>
          <a:solidFill>
            <a:srgbClr val="8C9BB5"/>
          </a:solidFill>
          <a:ln/>
        </p:spPr>
      </p:sp>
      <p:sp>
        <p:nvSpPr>
          <p:cNvPr id="11" name="Shape 9"/>
          <p:cNvSpPr/>
          <p:nvPr/>
        </p:nvSpPr>
        <p:spPr>
          <a:xfrm>
            <a:off x="4992624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986016" y="2089404"/>
            <a:ext cx="182880" cy="164592"/>
          </a:xfrm>
          <a:prstGeom prst="triangle">
            <a:avLst/>
          </a:prstGeom>
          <a:solidFill>
            <a:srgbClr val="8C9BB5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4616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214616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9208008" y="2089404"/>
            <a:ext cx="182880" cy="164592"/>
          </a:xfrm>
          <a:prstGeom prst="triangle">
            <a:avLst/>
          </a:prstGeom>
          <a:solidFill>
            <a:srgbClr val="8C9BB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6608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9436608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ML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41448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97096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34256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07408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9904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27064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82712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19872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93024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75520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012680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8583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08583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applicant submits a loan request, their income, credit score, requested amount, debt-to-income ratio, employment history, and payment history are fed into the trained Logistic Regression model. The model returns a default-probability score. Low-risk applicants are auto-approved; high-risk applicants are routed to manual underwriting review, offered a smaller loan amount, or priced with a risk-adjusted interest rate.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(Demonstration Run)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3,000 synthetic loan-applicant records built to mirror the feature set above (80/20 train-test split).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01568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default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(default class)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07424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07424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(default class)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default risk (model coefficients)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48640" y="3977640"/>
          <a:ext cx="6858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7635240" y="397764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0" y="41605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weights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reduces default risk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increases default risk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Debt-to-income, late payments, and loan amount are the strongest risk drivers. Higher income, longer job tenure, and a stronger credit score are the strongest protective factors.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2325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65960"/>
            <a:ext cx="365760" cy="36576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fraud &amp; loss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Better-scored applicants mean fewer bad loans reaching approval and lower write-offs.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2325C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965960"/>
            <a:ext cx="365760" cy="36576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approves low-risk applicants instantly instead of manual review for every case.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232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965960"/>
            <a:ext cx="365760" cy="36576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risk-based pricing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 can be matched to actual risk, improving margins without over-penalizing safe borrowers.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2325C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capital efficiency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risk estimates mean the bank holds capital reserves more efficiently.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4256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232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35424" y="3675888"/>
            <a:ext cx="365760" cy="36576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35424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forecasting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35424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risk scores feed more accurate portfolio-level loss forecasting.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232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3675888"/>
            <a:ext cx="365760" cy="365760"/>
          </a:xfrm>
          <a:prstGeom prst="ellipse">
            <a:avLst/>
          </a:prstGeom>
          <a:solidFill>
            <a:srgbClr val="C9A050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repetitive work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focus on borderline, high-value cases instead of routine approvals.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Risks &amp; Responsible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123444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92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credit history, and employment data are highly sensitive and must be tightly access-controlled.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82296" cy="123444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892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 lending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9672" y="22402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be tested so it doesn't discriminate by protected characteristics such as race or gender.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82296" cy="123444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310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" y="36576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applicants both require a clear explanation for why a loan was declined.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00400"/>
            <a:ext cx="82296" cy="123444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310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predictions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9672" y="36576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deny credit to good borrowers; false negatives approve loans that later default.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17720"/>
            <a:ext cx="82296" cy="123444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274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50749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and declined cases should have a path to human review, not automatic rejection.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617720"/>
            <a:ext cx="82296" cy="123444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7274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19672" y="50749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conditions change (interest rates, employment trends) — the model needs periodic retraining and monitoring.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C9A0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to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232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phased credit-scoring rollout, starting with a transparent, explainable model that satisfies regulatory requirements before scaling.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C9A05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37560"/>
            <a:ext cx="2670048" cy="22860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Logistic Regression alongside existing underwriting; validate scores against real repayment outcomes.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19856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9856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C9A05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19856" y="3337560"/>
            <a:ext cx="2670048" cy="22860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9856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02736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risk scores into the loan-origination workflow with clear, explainable decision reasons.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C9A05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91072" y="3337560"/>
            <a:ext cx="2670048" cy="22860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1072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bias and fair-lending audits across protected groups before any customer-facing use.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62288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62288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C9A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9162288" y="3337560"/>
            <a:ext cx="2670048" cy="228600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28" name="Text 26"/>
          <p:cNvSpPr/>
          <p:nvPr/>
        </p:nvSpPr>
        <p:spPr>
          <a:xfrm>
            <a:off x="9299448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62288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Monitor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45168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the full portfolio with human review for borderline cases and scheduled model retraining.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Default Prediction  |  AI/ML Business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188720"/>
            <a:ext cx="3657600" cy="3657600"/>
          </a:xfrm>
          <a:prstGeom prst="ellipse">
            <a:avLst/>
          </a:prstGeom>
          <a:solidFill>
            <a:srgbClr val="12325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12325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explainable model can materially reduce loan losses — if paired with rigorous fair-lending governance and human oversight.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2743200" cy="0"/>
          </a:xfrm>
          <a:prstGeom prst="line">
            <a:avLst/>
          </a:prstGeom>
          <a:noFill/>
          <a:ln w="25400">
            <a:solidFill>
              <a:srgbClr val="C9A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82B43"/>
                </a:solidFill>
              </a:defRPr>
            </a:pPr>
            <a:r>
              <a:t>PROMPT IMPROVEMENT &amp; AI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A6978"/>
                </a:solidFill>
              </a:defRPr>
            </a:pPr>
            <a:r>
              <a:t>How a more specific prompt produces more relevant, business-focused AI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166360" cy="2103120"/>
          </a:xfrm>
          <a:prstGeom prst="roundRect">
            <a:avLst/>
          </a:prstGeom>
          <a:solidFill>
            <a:srgbClr val="FFF6F6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182B43"/>
                </a:solidFill>
              </a:defRPr>
            </a:pPr>
            <a:r>
              <a:t>01  ORIGINAL / BASIC PROMPT</a:t>
            </a:r>
          </a:p>
          <a:p>
            <a:pPr>
              <a:defRPr sz="1000">
                <a:solidFill>
                  <a:srgbClr val="2D3741"/>
                </a:solidFill>
              </a:defRPr>
            </a:pPr>
            <a:r>
              <a:t>“Explain how AI can predict loan default risk.”</a:t>
            </a:r>
            <a:br/>
            <a:br/>
            <a:r>
              <a:t>General explanation • Limited business context • No specified features or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166360" cy="2103120"/>
          </a:xfrm>
          <a:prstGeom prst="roundRect">
            <a:avLst/>
          </a:prstGeom>
          <a:solidFill>
            <a:srgbClr val="F2FAF6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182B43"/>
                </a:solidFill>
              </a:defRPr>
            </a:pPr>
            <a:r>
              <a:t>02  IMPROVED PROMPT</a:t>
            </a:r>
          </a:p>
          <a:p>
            <a:pPr>
              <a:defRPr sz="1000">
                <a:solidFill>
                  <a:srgbClr val="2D3741"/>
                </a:solidFill>
              </a:defRPr>
            </a:pPr>
            <a:r>
              <a:t>“Act as a banking AI/ML analyst. Explain how Logistic Regression predicts loan default risk using income, credit score, loan amount, debt-to-income ratio, employment years and late payments. Include business purpose, model output, key risk factors and a presentation-ready explanation.”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68112" y="2084831"/>
            <a:ext cx="457200" cy="365760"/>
          </a:xfrm>
          <a:prstGeom prst="rightArrow">
            <a:avLst/>
          </a:prstGeom>
          <a:solidFill>
            <a:srgbClr val="46647D"/>
          </a:solidFill>
          <a:ln>
            <a:solidFill>
              <a:srgbClr val="46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35204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182B43"/>
                </a:solidFill>
              </a:defRPr>
            </a:pPr>
            <a:r>
              <a:t>DIFFERENCE IN OUTPUT</a:t>
            </a:r>
          </a:p>
          <a:p>
            <a:pPr>
              <a:defRPr sz="1000">
                <a:solidFill>
                  <a:srgbClr val="2D3741"/>
                </a:solidFill>
              </a:defRPr>
            </a:pPr>
            <a:r>
              <a:t>Basic → generic explanation</a:t>
            </a:r>
            <a:br/>
            <a:r>
              <a:t>Improved → specific credit-risk analysis</a:t>
            </a:r>
            <a:br/>
            <a:br/>
            <a:r>
              <a:t>The improved response connects AI directly to bank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3611880"/>
            <a:ext cx="35204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182B43"/>
                </a:solidFill>
              </a:defRPr>
            </a:pPr>
            <a:r>
              <a:t>AI EVALUATION</a:t>
            </a:r>
          </a:p>
          <a:p>
            <a:pPr>
              <a:defRPr sz="1000">
                <a:solidFill>
                  <a:srgbClr val="2D3741"/>
                </a:solidFill>
              </a:defRPr>
            </a:pPr>
            <a:r>
              <a:t>✓ Relevant to the business problem</a:t>
            </a:r>
            <a:br/>
            <a:r>
              <a:t>✓ Clear model and features</a:t>
            </a:r>
            <a:br/>
            <a:r>
              <a:t>✓ Explainable output</a:t>
            </a:r>
            <a:br/>
            <a:r>
              <a:t>✓ Presentation-ready</a:t>
            </a:r>
            <a:br/>
            <a:r>
              <a:t>✓ Connected to underwriting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3611880"/>
            <a:ext cx="32461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182B43"/>
                </a:solidFill>
              </a:defRPr>
            </a:pPr>
            <a:r>
              <a:t>WHAT WE LEARNED</a:t>
            </a:r>
          </a:p>
          <a:p>
            <a:pPr>
              <a:defRPr sz="1000">
                <a:solidFill>
                  <a:srgbClr val="2D3741"/>
                </a:solidFill>
              </a:defRPr>
            </a:pPr>
            <a:r>
              <a:t>Specific prompts give better results.</a:t>
            </a:r>
            <a:br/>
            <a:br/>
            <a:r>
              <a:t>Clearly defining the role, data, model, output and purpose makes AI responses more useful.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2057400" cy="566928"/>
          </a:xfrm>
          <a:prstGeom prst="roundRect">
            <a:avLst/>
          </a:prstGeom>
          <a:solidFill>
            <a:srgbClr val="E8EEF4"/>
          </a:solidFill>
          <a:ln>
            <a:solidFill>
              <a:srgbClr val="BE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246"/>
                </a:solidFill>
              </a:defRPr>
            </a:pPr>
            <a:r>
              <a:t>Basic Prompt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80360" y="5833872"/>
            <a:ext cx="411480" cy="320040"/>
          </a:xfrm>
          <a:prstGeom prst="rightArrow">
            <a:avLst/>
          </a:prstGeom>
          <a:solidFill>
            <a:srgbClr val="788796"/>
          </a:solidFill>
          <a:ln>
            <a:solidFill>
              <a:srgbClr val="788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20440" y="5715000"/>
            <a:ext cx="2057400" cy="566928"/>
          </a:xfrm>
          <a:prstGeom prst="roundRect">
            <a:avLst/>
          </a:prstGeom>
          <a:solidFill>
            <a:srgbClr val="E8EEF4"/>
          </a:solidFill>
          <a:ln>
            <a:solidFill>
              <a:srgbClr val="BE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246"/>
                </a:solidFill>
              </a:defRPr>
            </a:pPr>
            <a:r>
              <a:t>Specific Prompt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5833872"/>
            <a:ext cx="411480" cy="320040"/>
          </a:xfrm>
          <a:prstGeom prst="rightArrow">
            <a:avLst/>
          </a:prstGeom>
          <a:solidFill>
            <a:srgbClr val="788796"/>
          </a:solidFill>
          <a:ln>
            <a:solidFill>
              <a:srgbClr val="788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5715000"/>
            <a:ext cx="2057400" cy="566928"/>
          </a:xfrm>
          <a:prstGeom prst="roundRect">
            <a:avLst/>
          </a:prstGeom>
          <a:solidFill>
            <a:srgbClr val="E8EEF4"/>
          </a:solidFill>
          <a:ln>
            <a:solidFill>
              <a:srgbClr val="BE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246"/>
                </a:solidFill>
              </a:defRPr>
            </a:pPr>
            <a:r>
              <a:t>Relevant Output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58200" y="5833872"/>
            <a:ext cx="411480" cy="320040"/>
          </a:xfrm>
          <a:prstGeom prst="rightArrow">
            <a:avLst/>
          </a:prstGeom>
          <a:solidFill>
            <a:srgbClr val="788796"/>
          </a:solidFill>
          <a:ln>
            <a:solidFill>
              <a:srgbClr val="788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98280" y="5715000"/>
            <a:ext cx="2057400" cy="566928"/>
          </a:xfrm>
          <a:prstGeom prst="roundRect">
            <a:avLst/>
          </a:prstGeom>
          <a:solidFill>
            <a:srgbClr val="E8EEF4"/>
          </a:solidFill>
          <a:ln>
            <a:solidFill>
              <a:srgbClr val="BE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246"/>
                </a:solidFill>
              </a:defRPr>
            </a:pPr>
            <a:r>
              <a:t>Better 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9737D"/>
                </a:solidFill>
              </a:defRPr>
            </a:pPr>
            <a:r>
              <a:t>Bank Loan Default Prediction  |  AI/ML Business Case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7CA28-6627-86BE-49A2-12EB191F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48BE8-112B-C385-356A-21EBE1428B16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50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8A707E-6A0B-1DB5-74AE-E8464F18A37D}"/>
              </a:ext>
            </a:extLst>
          </p:cNvPr>
          <p:cNvSpPr/>
          <p:nvPr/>
        </p:nvSpPr>
        <p:spPr>
          <a:xfrm>
            <a:off x="9966960" y="-1188720"/>
            <a:ext cx="3657600" cy="3657600"/>
          </a:xfrm>
          <a:prstGeom prst="ellipse">
            <a:avLst/>
          </a:prstGeom>
          <a:solidFill>
            <a:srgbClr val="12325C">
              <a:alpha val="6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CA034A-8F55-9160-ED3B-1BBB2DAAD5FE}"/>
              </a:ext>
            </a:extLst>
          </p:cNvPr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12325C">
              <a:alpha val="60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519F76-F8F3-A700-F845-E1F68F2CF8D3}"/>
              </a:ext>
            </a:extLst>
          </p:cNvPr>
          <p:cNvSpPr/>
          <p:nvPr/>
        </p:nvSpPr>
        <p:spPr>
          <a:xfrm>
            <a:off x="658368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14B0E3-1BEC-F75F-44A8-3D0C1F304C6C}"/>
              </a:ext>
            </a:extLst>
          </p:cNvPr>
          <p:cNvSpPr/>
          <p:nvPr/>
        </p:nvSpPr>
        <p:spPr>
          <a:xfrm>
            <a:off x="658368" y="19202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BC98A25-8899-6EA2-9E6F-19F069FBBFC2}"/>
              </a:ext>
            </a:extLst>
          </p:cNvPr>
          <p:cNvSpPr/>
          <p:nvPr/>
        </p:nvSpPr>
        <p:spPr>
          <a:xfrm>
            <a:off x="489555" y="1315329"/>
            <a:ext cx="2743200" cy="0"/>
          </a:xfrm>
          <a:prstGeom prst="line">
            <a:avLst/>
          </a:prstGeom>
          <a:noFill/>
          <a:ln w="25400">
            <a:solidFill>
              <a:srgbClr val="C9A0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BB5DD8-E803-0994-FC37-B3BCD671B3CA}"/>
              </a:ext>
            </a:extLst>
          </p:cNvPr>
          <p:cNvSpPr/>
          <p:nvPr/>
        </p:nvSpPr>
        <p:spPr>
          <a:xfrm>
            <a:off x="489555" y="731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050"/>
                </a:solidFill>
                <a:latin typeface="Cambria" pitchFamily="34" charset="0"/>
              </a:rPr>
              <a:t>GITHUB LINKS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3E3DE2-65F9-D8E1-C5C2-D271075F32D4}"/>
              </a:ext>
            </a:extLst>
          </p:cNvPr>
          <p:cNvSpPr/>
          <p:nvPr/>
        </p:nvSpPr>
        <p:spPr>
          <a:xfrm>
            <a:off x="658368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E9AE4-971F-5104-5292-331EC113D297}"/>
              </a:ext>
            </a:extLst>
          </p:cNvPr>
          <p:cNvSpPr txBox="1"/>
          <p:nvPr/>
        </p:nvSpPr>
        <p:spPr>
          <a:xfrm>
            <a:off x="773723" y="2110154"/>
            <a:ext cx="8806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ANSH -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https://github.com/ansh2534bbafai25-collab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BHAVIKA SHARMA –  </a:t>
            </a:r>
            <a:r>
              <a:rPr lang="en-US" dirty="0">
                <a:solidFill>
                  <a:schemeClr val="bg1"/>
                </a:solidFill>
                <a:hlinkClick r:id="rId4"/>
              </a:rPr>
              <a:t>https://github.com/bhavika2561bbafai25-oss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CHEHAK –  </a:t>
            </a:r>
            <a:r>
              <a:rPr lang="en-US" dirty="0">
                <a:solidFill>
                  <a:schemeClr val="bg1"/>
                </a:solidFill>
                <a:hlinkClick r:id="rId5"/>
              </a:rPr>
              <a:t>https://github.com/CHEHAK29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ARCHIT SHARMA –  </a:t>
            </a:r>
            <a:r>
              <a:rPr lang="en-US" dirty="0">
                <a:solidFill>
                  <a:schemeClr val="bg1"/>
                </a:solidFill>
                <a:hlinkClick r:id="rId6"/>
              </a:rPr>
              <a:t>https://github.com/archit2540bbafai25-byte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LAKSHAY RANA – </a:t>
            </a:r>
            <a:r>
              <a:rPr lang="en-US" dirty="0">
                <a:solidFill>
                  <a:schemeClr val="bg1"/>
                </a:solidFill>
                <a:hlinkClick r:id="rId7"/>
              </a:rPr>
              <a:t>https://github.com/ranalakshay1979-sys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ISHNEET – </a:t>
            </a:r>
            <a:r>
              <a:rPr lang="en-US" dirty="0">
                <a:solidFill>
                  <a:schemeClr val="bg1"/>
                </a:solidFill>
                <a:hlinkClick r:id="rId8"/>
              </a:rPr>
              <a:t>https://github.com/ishneet2629bbafai25-arch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AKARSHAN MITTAL – </a:t>
            </a:r>
            <a:r>
              <a:rPr lang="en-US" dirty="0">
                <a:solidFill>
                  <a:schemeClr val="bg1"/>
                </a:solidFill>
                <a:hlinkClick r:id="rId9"/>
              </a:rPr>
              <a:t>https://github.com/akarshan0004-spec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DIVYANSH GAUTAM –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GURPREET KAUR – </a:t>
            </a:r>
            <a:r>
              <a:rPr lang="en-US" dirty="0">
                <a:solidFill>
                  <a:schemeClr val="bg1"/>
                </a:solidFill>
                <a:hlinkClick r:id="rId10"/>
              </a:rPr>
              <a:t>https://github.com/gunn2006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DARPAN KUMAR – </a:t>
            </a:r>
            <a:r>
              <a:rPr lang="en-US" dirty="0">
                <a:solidFill>
                  <a:schemeClr val="bg1"/>
                </a:solidFill>
                <a:hlinkClick r:id="rId11"/>
              </a:rPr>
              <a:t>https://github.com/Darpan099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SIYA MAHAJAN – </a:t>
            </a:r>
            <a:r>
              <a:rPr lang="en-US" dirty="0">
                <a:solidFill>
                  <a:schemeClr val="bg1"/>
                </a:solidFill>
                <a:hlinkClick r:id="rId12"/>
              </a:rPr>
              <a:t>https://github.com/dashboard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ASHMEET BAWA - </a:t>
            </a:r>
            <a:r>
              <a:rPr lang="en-US" dirty="0">
                <a:solidFill>
                  <a:schemeClr val="bg1"/>
                </a:solidFill>
                <a:hlinkClick r:id="rId13"/>
              </a:rPr>
              <a:t>https://github.com/ashmeet2553bbafai25-ai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694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1605</Words>
  <Application>Microsoft Macintosh PowerPoint</Application>
  <PresentationFormat>Widescreen</PresentationFormat>
  <Paragraphs>213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anshhh2330@gmail.com</cp:lastModifiedBy>
  <cp:revision>3</cp:revision>
  <dcterms:created xsi:type="dcterms:W3CDTF">2026-09-16T04:04:54Z</dcterms:created>
  <dcterms:modified xsi:type="dcterms:W3CDTF">2026-09-17T03:38:04Z</dcterms:modified>
</cp:coreProperties>
</file>